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2FD68-4C5F-757B-B3DF-6CFA5C683B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829886-66F7-CCDD-68E9-1BF5B7451C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17CCF6-4D16-97B4-F113-1B1BFD25A3BC}"/>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6D6388D7-15B1-661B-804E-B1B1A55C3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17C881-9DA4-9973-2FF7-806229AFF156}"/>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338675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20536-3C33-FCB5-72C9-297355FACA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C56B6B-91FB-48D9-2ACF-50F8A316AE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FF791B-8F99-BFA7-39CB-F71E4452424F}"/>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22178298-FD04-62CA-506F-EBAD74822C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130E5-BBFF-5D70-54EF-936F07CD7ECC}"/>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130686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B99D-6A74-3953-F741-70AF40AA1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B8A27C-06B5-08F4-1D79-C1E4D03A5D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00C49-F8B8-56D6-0AB1-AA0B0B7E7404}"/>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D2644E3D-65D0-0661-0245-1A41CB3116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E5A52-E9A3-FA78-FEC4-26920D90E26C}"/>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104631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3A89B-302B-3B65-1E49-33224782A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46E9FF-0EC4-5BA9-BBC2-07F2B710DB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247C210-8D53-4D18-61C3-5E08B3B58E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875186-1701-C55A-1DD2-290BE8037096}"/>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6" name="Footer Placeholder 5">
            <a:extLst>
              <a:ext uri="{FF2B5EF4-FFF2-40B4-BE49-F238E27FC236}">
                <a16:creationId xmlns:a16="http://schemas.microsoft.com/office/drawing/2014/main" id="{FF7235DF-07E1-D721-8D0A-C4E67BA33A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36E1DC-B189-4FCB-DCC6-8A99936A00FE}"/>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1785345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935AE-A7CE-68DC-04D9-65A9B1A500A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ED6FDB-211B-DB99-6784-E1C4AB65E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512F2B-92E5-9E0C-1BB1-7D170C7383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466BC1-6BDA-210B-C472-3D2279991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76BD75-7AA1-24D3-46B2-62EFBA87B2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3DDE4E-386E-3396-6740-2E9DB4CD1670}"/>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8" name="Footer Placeholder 7">
            <a:extLst>
              <a:ext uri="{FF2B5EF4-FFF2-40B4-BE49-F238E27FC236}">
                <a16:creationId xmlns:a16="http://schemas.microsoft.com/office/drawing/2014/main" id="{4CFDA455-3912-7EFE-C966-838F1640A3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8BC4C6-4A59-E422-0D56-F5BE1A7CDC3B}"/>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255649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F2159-8C10-3EFA-3018-1B210E6268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BA0489-0CE5-7F6C-BD36-04FC8D744C6A}"/>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4" name="Footer Placeholder 3">
            <a:extLst>
              <a:ext uri="{FF2B5EF4-FFF2-40B4-BE49-F238E27FC236}">
                <a16:creationId xmlns:a16="http://schemas.microsoft.com/office/drawing/2014/main" id="{F9BC5E9D-38E4-A388-6E96-B5D66B810C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1A6106-93ED-4958-5E1A-274545FD865F}"/>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42076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851149-CA06-145B-EE98-323E215CCA69}"/>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3" name="Footer Placeholder 2">
            <a:extLst>
              <a:ext uri="{FF2B5EF4-FFF2-40B4-BE49-F238E27FC236}">
                <a16:creationId xmlns:a16="http://schemas.microsoft.com/office/drawing/2014/main" id="{5A8F19F5-7FA9-8916-EBB9-B692DDEBE5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8C55C05-D5AD-34C3-6BAC-9A0E7F701303}"/>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84128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FAE87-8313-6C65-B434-E212BC4E96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16BDEF-A7BD-92A1-2049-961B44E733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607F46-6FBA-8A3E-0938-43A7DADF4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6422A4-C4BB-9E56-CA24-333E7749AA9C}"/>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6" name="Footer Placeholder 5">
            <a:extLst>
              <a:ext uri="{FF2B5EF4-FFF2-40B4-BE49-F238E27FC236}">
                <a16:creationId xmlns:a16="http://schemas.microsoft.com/office/drawing/2014/main" id="{4D5617B8-E274-AB07-38C4-C42C63D5D9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7CC54C-FC2E-B96C-A287-29C77779F5A9}"/>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3335912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DA78-EFA9-4E25-35E5-32FF868CAD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ECD5B7-00B4-02B3-6CF2-C983EBF299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8F78FA-4C6A-84DD-B1D8-55A4DE03A7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546C0B-2B15-AB38-5C1B-238FD6E4041D}"/>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6" name="Footer Placeholder 5">
            <a:extLst>
              <a:ext uri="{FF2B5EF4-FFF2-40B4-BE49-F238E27FC236}">
                <a16:creationId xmlns:a16="http://schemas.microsoft.com/office/drawing/2014/main" id="{00EA585F-A9D6-04A7-F6E2-A093D9E43F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CEB879-1ADF-DE28-D26F-C86EB2E57AB7}"/>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1503059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AF4E-3B5C-4997-0835-784BDA6B38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2EEB79-77F9-E2A1-BF60-0B606BEFEA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B628A-D3A3-2C93-8428-AA7C30387228}"/>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A302CA99-B7A8-6B9E-1EEF-D429C05BB7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405237-4071-0DED-D748-901309A72021}"/>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1507519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044C6F-0C22-1333-3E99-8FCD4C1D7D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85828-C345-1152-8FC6-CFCD02E679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D1D665-0AF5-3A39-B825-0015BC8AD790}"/>
              </a:ext>
            </a:extLst>
          </p:cNvPr>
          <p:cNvSpPr>
            <a:spLocks noGrp="1"/>
          </p:cNvSpPr>
          <p:nvPr>
            <p:ph type="dt" sz="half" idx="10"/>
          </p:nvPr>
        </p:nvSpPr>
        <p:spPr/>
        <p:txBody>
          <a:body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0636E797-5988-F5ED-3B8C-2B099DE639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56CC45-0B29-8B9F-7254-BC342FCA6A95}"/>
              </a:ext>
            </a:extLst>
          </p:cNvPr>
          <p:cNvSpPr>
            <a:spLocks noGrp="1"/>
          </p:cNvSpPr>
          <p:nvPr>
            <p:ph type="sldNum" sz="quarter" idx="12"/>
          </p:nvPr>
        </p:nvSpPr>
        <p:spPr/>
        <p:txBody>
          <a:bodyPr/>
          <a:lstStyle/>
          <a:p>
            <a:fld id="{2DBBAFE7-6736-48A6-8E2F-51C86D495F71}" type="slidenum">
              <a:rPr lang="en-IN" smtClean="0"/>
              <a:t>‹#›</a:t>
            </a:fld>
            <a:endParaRPr lang="en-IN"/>
          </a:p>
        </p:txBody>
      </p:sp>
    </p:spTree>
    <p:extLst>
      <p:ext uri="{BB962C8B-B14F-4D97-AF65-F5344CB8AC3E}">
        <p14:creationId xmlns:p14="http://schemas.microsoft.com/office/powerpoint/2010/main" val="292921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52E049-B76A-6E31-DECE-37786C508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FB9D1B-4932-834D-A7DA-880E83A8F2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00FDBE-4D6B-F298-9331-F6082AC657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3EF6AC-4080-4CAB-94F4-08A6DB90CBB0}" type="datetimeFigureOut">
              <a:rPr lang="en-IN" smtClean="0"/>
              <a:t>30-04-2025</a:t>
            </a:fld>
            <a:endParaRPr lang="en-IN"/>
          </a:p>
        </p:txBody>
      </p:sp>
      <p:sp>
        <p:nvSpPr>
          <p:cNvPr id="5" name="Footer Placeholder 4">
            <a:extLst>
              <a:ext uri="{FF2B5EF4-FFF2-40B4-BE49-F238E27FC236}">
                <a16:creationId xmlns:a16="http://schemas.microsoft.com/office/drawing/2014/main" id="{7B81DB7D-265E-D1FA-43A1-40E6A1A518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BF5348-B698-329B-2568-2C74C4AF7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BAFE7-6736-48A6-8E2F-51C86D495F71}" type="slidenum">
              <a:rPr lang="en-IN" smtClean="0"/>
              <a:t>‹#›</a:t>
            </a:fld>
            <a:endParaRPr lang="en-IN"/>
          </a:p>
        </p:txBody>
      </p:sp>
    </p:spTree>
    <p:extLst>
      <p:ext uri="{BB962C8B-B14F-4D97-AF65-F5344CB8AC3E}">
        <p14:creationId xmlns:p14="http://schemas.microsoft.com/office/powerpoint/2010/main" val="866436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1BCB6-371B-77A9-2477-48D7CDB09815}"/>
              </a:ext>
            </a:extLst>
          </p:cNvPr>
          <p:cNvSpPr>
            <a:spLocks noGrp="1"/>
          </p:cNvSpPr>
          <p:nvPr>
            <p:ph type="title"/>
          </p:nvPr>
        </p:nvSpPr>
        <p:spPr>
          <a:xfrm>
            <a:off x="838200" y="365125"/>
            <a:ext cx="10515600" cy="921415"/>
          </a:xfrm>
        </p:spPr>
        <p:txBody>
          <a:bodyPr>
            <a:normAutofit fontScale="90000"/>
          </a:bodyPr>
          <a:lstStyle/>
          <a:p>
            <a:pPr algn="ctr"/>
            <a:r>
              <a:rPr lang="en-US" sz="4000" b="1" dirty="0">
                <a:latin typeface="+mn-lt"/>
              </a:rPr>
              <a:t>Retail Business Performance &amp; Profitability Analysis</a:t>
            </a:r>
            <a:endParaRPr lang="en-IN" sz="4000" dirty="0">
              <a:latin typeface="+mn-lt"/>
            </a:endParaRPr>
          </a:p>
        </p:txBody>
      </p:sp>
      <p:pic>
        <p:nvPicPr>
          <p:cNvPr id="5" name="Content Placeholder 4">
            <a:extLst>
              <a:ext uri="{FF2B5EF4-FFF2-40B4-BE49-F238E27FC236}">
                <a16:creationId xmlns:a16="http://schemas.microsoft.com/office/drawing/2014/main" id="{5E6FEA68-3504-D050-0B81-A1D9D98FBABF}"/>
              </a:ext>
            </a:extLst>
          </p:cNvPr>
          <p:cNvPicPr>
            <a:picLocks noGrp="1" noChangeAspect="1"/>
          </p:cNvPicPr>
          <p:nvPr>
            <p:ph idx="1"/>
          </p:nvPr>
        </p:nvPicPr>
        <p:blipFill>
          <a:blip r:embed="rId2"/>
          <a:stretch>
            <a:fillRect/>
          </a:stretch>
        </p:blipFill>
        <p:spPr>
          <a:xfrm>
            <a:off x="978195" y="1382233"/>
            <a:ext cx="10515600" cy="5110642"/>
          </a:xfrm>
        </p:spPr>
      </p:pic>
    </p:spTree>
    <p:extLst>
      <p:ext uri="{BB962C8B-B14F-4D97-AF65-F5344CB8AC3E}">
        <p14:creationId xmlns:p14="http://schemas.microsoft.com/office/powerpoint/2010/main" val="1681917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7EBE7-6FB5-3D42-87A8-8F6B3568A3AC}"/>
              </a:ext>
            </a:extLst>
          </p:cNvPr>
          <p:cNvSpPr>
            <a:spLocks noGrp="1"/>
          </p:cNvSpPr>
          <p:nvPr>
            <p:ph type="title"/>
          </p:nvPr>
        </p:nvSpPr>
        <p:spPr>
          <a:xfrm>
            <a:off x="838200" y="630939"/>
            <a:ext cx="10515600" cy="400419"/>
          </a:xfrm>
        </p:spPr>
        <p:txBody>
          <a:bodyPr>
            <a:noAutofit/>
          </a:bodyPr>
          <a:lstStyle/>
          <a:p>
            <a:r>
              <a:rPr lang="en-IN" sz="2000" b="1" dirty="0">
                <a:latin typeface="+mn-lt"/>
              </a:rPr>
              <a:t>Introduction:</a:t>
            </a:r>
          </a:p>
        </p:txBody>
      </p:sp>
      <p:sp>
        <p:nvSpPr>
          <p:cNvPr id="3" name="Content Placeholder 2">
            <a:extLst>
              <a:ext uri="{FF2B5EF4-FFF2-40B4-BE49-F238E27FC236}">
                <a16:creationId xmlns:a16="http://schemas.microsoft.com/office/drawing/2014/main" id="{4DE1388E-6974-03D1-7545-F133D4B60832}"/>
              </a:ext>
            </a:extLst>
          </p:cNvPr>
          <p:cNvSpPr>
            <a:spLocks noGrp="1"/>
          </p:cNvSpPr>
          <p:nvPr>
            <p:ph idx="1"/>
          </p:nvPr>
        </p:nvSpPr>
        <p:spPr>
          <a:xfrm>
            <a:off x="838200" y="1113353"/>
            <a:ext cx="10515600" cy="5315726"/>
          </a:xfrm>
        </p:spPr>
        <p:txBody>
          <a:bodyPr>
            <a:normAutofit/>
          </a:bodyPr>
          <a:lstStyle/>
          <a:p>
            <a:pPr marL="0" indent="0" algn="just">
              <a:buNone/>
            </a:pPr>
            <a:r>
              <a:rPr lang="en-US" sz="1600" dirty="0"/>
              <a:t>Retail businesses generate vast amounts of transactional data daily. Proper analysis of this data can uncover hidden trends, identify underperforming products, and improve operational efficiency. This project aims to analyze historical retail transactions to evaluate sales performance, inventory turnover, and customer behavior, ultimately supporting strategic decision-making.</a:t>
            </a:r>
          </a:p>
          <a:p>
            <a:pPr>
              <a:buNone/>
            </a:pPr>
            <a:r>
              <a:rPr lang="en-US" sz="2000" b="1" dirty="0"/>
              <a:t>Abstract:</a:t>
            </a:r>
          </a:p>
          <a:p>
            <a:pPr marL="0" indent="0" algn="just">
              <a:buNone/>
            </a:pPr>
            <a:r>
              <a:rPr lang="en-US" sz="1600" dirty="0"/>
              <a:t>This project focuses on analyzing an online retail dataset using Python, SQL, and Power BI. The primary goal is to detect profit-draining products, monitor inventory movement, and reveal seasonal or regional trends. Through effective data cleaning, exploratory analysis, and dashboarding, key insights are generated to support retail business optimization.</a:t>
            </a:r>
          </a:p>
          <a:p>
            <a:pPr>
              <a:buNone/>
            </a:pPr>
            <a:r>
              <a:rPr lang="en-IN" sz="2000" b="1" dirty="0"/>
              <a:t>Tools Used:</a:t>
            </a:r>
          </a:p>
          <a:p>
            <a:pPr>
              <a:buFont typeface="Arial" panose="020B0604020202020204" pitchFamily="34" charset="0"/>
              <a:buChar char="•"/>
            </a:pPr>
            <a:r>
              <a:rPr lang="en-IN" sz="1600" b="1" dirty="0"/>
              <a:t>Python (Pandas, Matplotlib, Seaborn):</a:t>
            </a:r>
            <a:r>
              <a:rPr lang="en-IN" sz="1600" dirty="0"/>
              <a:t> Data cleaning, feature engineering, correlation analysis</a:t>
            </a:r>
          </a:p>
          <a:p>
            <a:pPr>
              <a:buFont typeface="Arial" panose="020B0604020202020204" pitchFamily="34" charset="0"/>
              <a:buChar char="•"/>
            </a:pPr>
            <a:r>
              <a:rPr lang="en-IN" sz="1600" b="1" dirty="0"/>
              <a:t>SQL (MySQL):</a:t>
            </a:r>
            <a:r>
              <a:rPr lang="en-IN" sz="1600" dirty="0"/>
              <a:t> Querying key metrics like profit, product performance, and customer data</a:t>
            </a:r>
          </a:p>
          <a:p>
            <a:pPr>
              <a:buFont typeface="Arial" panose="020B0604020202020204" pitchFamily="34" charset="0"/>
              <a:buChar char="•"/>
            </a:pPr>
            <a:r>
              <a:rPr lang="en-IN" sz="1600" b="1" dirty="0"/>
              <a:t>Power BI:</a:t>
            </a:r>
            <a:r>
              <a:rPr lang="en-IN" sz="1600" dirty="0"/>
              <a:t> Interactive dashboard creation with KPIs and visual trends</a:t>
            </a:r>
          </a:p>
          <a:p>
            <a:pPr marL="0" indent="0">
              <a:buNone/>
            </a:pPr>
            <a:r>
              <a:rPr lang="en-US" sz="2000" b="1" dirty="0">
                <a:latin typeface="+mn-lt"/>
              </a:rPr>
              <a:t>Steps Involved in Building the Project:</a:t>
            </a:r>
          </a:p>
          <a:p>
            <a:pPr marL="0" indent="0">
              <a:buNone/>
            </a:pPr>
            <a:r>
              <a:rPr lang="en-IN" sz="1600" b="1" dirty="0"/>
              <a:t>1. Data Cleaning in Python:</a:t>
            </a:r>
            <a:endParaRPr lang="en-IN" sz="1600" dirty="0"/>
          </a:p>
          <a:p>
            <a:pPr>
              <a:buFont typeface="Wingdings" panose="05000000000000000000" pitchFamily="2" charset="2"/>
              <a:buChar char="Ø"/>
            </a:pPr>
            <a:r>
              <a:rPr lang="en-IN" sz="1600" dirty="0"/>
              <a:t>  </a:t>
            </a:r>
            <a:r>
              <a:rPr lang="en-US" sz="1600" dirty="0"/>
              <a:t>Removed null values, duplicates.</a:t>
            </a:r>
          </a:p>
          <a:p>
            <a:pPr>
              <a:buFont typeface="Wingdings" panose="05000000000000000000" pitchFamily="2" charset="2"/>
              <a:buChar char="Ø"/>
            </a:pPr>
            <a:r>
              <a:rPr lang="en-IN" sz="1600" dirty="0"/>
              <a:t> Created new features: Total Price, Month, Year, Weekday.</a:t>
            </a:r>
          </a:p>
          <a:p>
            <a:pPr marL="0" indent="0">
              <a:buNone/>
            </a:pPr>
            <a:endParaRPr lang="en-IN" sz="2000" dirty="0"/>
          </a:p>
        </p:txBody>
      </p:sp>
    </p:spTree>
    <p:extLst>
      <p:ext uri="{BB962C8B-B14F-4D97-AF65-F5344CB8AC3E}">
        <p14:creationId xmlns:p14="http://schemas.microsoft.com/office/powerpoint/2010/main" val="305011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31379-B72B-1A16-651C-1FE83D4DCBC4}"/>
              </a:ext>
            </a:extLst>
          </p:cNvPr>
          <p:cNvSpPr>
            <a:spLocks noGrp="1"/>
          </p:cNvSpPr>
          <p:nvPr>
            <p:ph type="title"/>
          </p:nvPr>
        </p:nvSpPr>
        <p:spPr>
          <a:xfrm flipV="1">
            <a:off x="699977" y="-520994"/>
            <a:ext cx="10515600" cy="195004"/>
          </a:xfrm>
        </p:spPr>
        <p:txBody>
          <a:bodyPr>
            <a:normAutofit fontScale="90000"/>
          </a:bodyPr>
          <a:lstStyle/>
          <a:p>
            <a:endParaRPr lang="en-IN" sz="2800" b="1" dirty="0">
              <a:latin typeface="+mn-lt"/>
            </a:endParaRPr>
          </a:p>
        </p:txBody>
      </p:sp>
      <p:sp>
        <p:nvSpPr>
          <p:cNvPr id="3" name="Content Placeholder 2">
            <a:extLst>
              <a:ext uri="{FF2B5EF4-FFF2-40B4-BE49-F238E27FC236}">
                <a16:creationId xmlns:a16="http://schemas.microsoft.com/office/drawing/2014/main" id="{48156FFC-0D19-E9C6-5A08-76DB3CBC0BEC}"/>
              </a:ext>
            </a:extLst>
          </p:cNvPr>
          <p:cNvSpPr>
            <a:spLocks noGrp="1"/>
          </p:cNvSpPr>
          <p:nvPr>
            <p:ph idx="1"/>
          </p:nvPr>
        </p:nvSpPr>
        <p:spPr>
          <a:xfrm>
            <a:off x="838200" y="202019"/>
            <a:ext cx="10515600" cy="6539023"/>
          </a:xfrm>
        </p:spPr>
        <p:txBody>
          <a:bodyPr>
            <a:normAutofit/>
          </a:bodyPr>
          <a:lstStyle/>
          <a:p>
            <a:pPr marL="0" indent="0">
              <a:buNone/>
            </a:pPr>
            <a:r>
              <a:rPr lang="en-IN" sz="1600" b="1" dirty="0"/>
              <a:t>2. Exploratory Data Analysis:</a:t>
            </a:r>
          </a:p>
          <a:p>
            <a:pPr>
              <a:buFont typeface="Wingdings" panose="05000000000000000000" pitchFamily="2" charset="2"/>
              <a:buChar char="Ø"/>
            </a:pPr>
            <a:r>
              <a:rPr lang="en-IN" sz="1600" dirty="0"/>
              <a:t> </a:t>
            </a:r>
            <a:r>
              <a:rPr lang="en-US" sz="1600" dirty="0"/>
              <a:t>Visualized slow-moving products using quantity vs. product.</a:t>
            </a:r>
          </a:p>
          <a:p>
            <a:pPr>
              <a:buFont typeface="Wingdings" panose="05000000000000000000" pitchFamily="2" charset="2"/>
              <a:buChar char="Ø"/>
            </a:pPr>
            <a:r>
              <a:rPr lang="en-US" sz="1600" dirty="0"/>
              <a:t> Analyzed sales patterns by country, weekday, and month.</a:t>
            </a:r>
          </a:p>
          <a:p>
            <a:pPr>
              <a:buFont typeface="Wingdings" panose="05000000000000000000" pitchFamily="2" charset="2"/>
              <a:buChar char="Ø"/>
            </a:pPr>
            <a:r>
              <a:rPr lang="en-US" sz="1600" dirty="0"/>
              <a:t> Performed correlation between Inventory Days and </a:t>
            </a:r>
            <a:r>
              <a:rPr lang="en-US" sz="1600" dirty="0" err="1"/>
              <a:t>TotalPrice</a:t>
            </a:r>
            <a:r>
              <a:rPr lang="en-US" sz="1600" dirty="0"/>
              <a:t>.</a:t>
            </a:r>
          </a:p>
          <a:p>
            <a:pPr marL="0" indent="0">
              <a:buNone/>
            </a:pPr>
            <a:r>
              <a:rPr lang="en-US" sz="1600" b="1" dirty="0"/>
              <a:t>3. </a:t>
            </a:r>
            <a:r>
              <a:rPr lang="en-IN" sz="1600" b="1" dirty="0"/>
              <a:t>SQL Analysis:</a:t>
            </a:r>
          </a:p>
          <a:p>
            <a:pPr>
              <a:buFont typeface="Wingdings" panose="05000000000000000000" pitchFamily="2" charset="2"/>
              <a:buChar char="Ø"/>
            </a:pPr>
            <a:r>
              <a:rPr lang="en-IN" sz="1600" dirty="0"/>
              <a:t> Connected cleaned dataset.</a:t>
            </a:r>
          </a:p>
          <a:p>
            <a:pPr>
              <a:buFont typeface="Wingdings" panose="05000000000000000000" pitchFamily="2" charset="2"/>
              <a:buChar char="Ø"/>
            </a:pPr>
            <a:r>
              <a:rPr lang="en-IN" sz="1600" dirty="0"/>
              <a:t> </a:t>
            </a:r>
            <a:r>
              <a:rPr lang="en-US" sz="1600" dirty="0"/>
              <a:t>Calculated total profit, top customers, product performance by quantity and revenue.</a:t>
            </a:r>
            <a:endParaRPr lang="en-IN" sz="1600" dirty="0"/>
          </a:p>
          <a:p>
            <a:pPr>
              <a:buFont typeface="Wingdings" panose="05000000000000000000" pitchFamily="2" charset="2"/>
              <a:buChar char="Ø"/>
            </a:pPr>
            <a:r>
              <a:rPr lang="en-IN" sz="1600" dirty="0"/>
              <a:t> </a:t>
            </a:r>
            <a:r>
              <a:rPr lang="en-US" sz="1600" dirty="0"/>
              <a:t>Queried monthly sales and average unit price by country.</a:t>
            </a:r>
            <a:endParaRPr lang="en-IN" sz="1600" dirty="0"/>
          </a:p>
          <a:p>
            <a:pPr marL="0" indent="0">
              <a:buNone/>
            </a:pPr>
            <a:r>
              <a:rPr lang="en-IN" sz="1600" b="1" dirty="0"/>
              <a:t>4. Power BI Dashboard Creation:</a:t>
            </a:r>
          </a:p>
          <a:p>
            <a:pPr>
              <a:buFont typeface="Wingdings" panose="05000000000000000000" pitchFamily="2" charset="2"/>
              <a:buChar char="Ø"/>
            </a:pPr>
            <a:r>
              <a:rPr lang="en-IN" sz="1600" dirty="0"/>
              <a:t> </a:t>
            </a:r>
            <a:r>
              <a:rPr lang="en-US" sz="1600" dirty="0"/>
              <a:t>Created KPI cards (Total Sales, Quantity Sold, Avg. Price, Transactions, Customers).</a:t>
            </a:r>
            <a:endParaRPr lang="en-IN" sz="1600" dirty="0"/>
          </a:p>
          <a:p>
            <a:pPr>
              <a:buFont typeface="Wingdings" panose="05000000000000000000" pitchFamily="2" charset="2"/>
              <a:buChar char="Ø"/>
            </a:pPr>
            <a:r>
              <a:rPr lang="en-IN" sz="1600" dirty="0"/>
              <a:t> Built visualizations for:</a:t>
            </a:r>
          </a:p>
          <a:p>
            <a:pPr marL="0" indent="0">
              <a:buNone/>
            </a:pPr>
            <a:r>
              <a:rPr lang="en-IN" sz="1600" dirty="0"/>
              <a:t>                    *  Monthly sales trend</a:t>
            </a:r>
          </a:p>
          <a:p>
            <a:pPr marL="0" indent="0">
              <a:buNone/>
            </a:pPr>
            <a:r>
              <a:rPr lang="en-IN" sz="1600" dirty="0"/>
              <a:t>                     * Quantity by product</a:t>
            </a:r>
          </a:p>
          <a:p>
            <a:pPr marL="0" indent="0">
              <a:buNone/>
            </a:pPr>
            <a:r>
              <a:rPr lang="en-US" sz="1600" dirty="0"/>
              <a:t>                     * Sales by weekday and country</a:t>
            </a:r>
            <a:endParaRPr lang="en-IN" sz="1600" dirty="0"/>
          </a:p>
          <a:p>
            <a:pPr>
              <a:buFont typeface="Wingdings" panose="05000000000000000000" pitchFamily="2" charset="2"/>
              <a:buChar char="Ø"/>
            </a:pPr>
            <a:r>
              <a:rPr lang="en-US" sz="1600" dirty="0"/>
              <a:t>Added slicers for country and year.</a:t>
            </a:r>
          </a:p>
          <a:p>
            <a:pPr>
              <a:buNone/>
            </a:pPr>
            <a:r>
              <a:rPr lang="en-US" sz="2000" b="1" dirty="0"/>
              <a:t>Conclusion:</a:t>
            </a:r>
          </a:p>
          <a:p>
            <a:pPr marL="0" indent="0">
              <a:buNone/>
            </a:pPr>
            <a:r>
              <a:rPr lang="en-US" sz="1600" dirty="0"/>
              <a:t>This analysis highlighted valuable insights into product sales trends and regional demand variations. Slow-moving items and peak sales days were identified, helping to guide inventory and promotional strategies. By leveraging Python, SQL, and Power BI, this project demonstrates the potential of data-driven decision-making in the retail industry.</a:t>
            </a:r>
          </a:p>
          <a:p>
            <a:pPr marL="0" indent="0">
              <a:buNone/>
            </a:pPr>
            <a:endParaRPr lang="en-IN" sz="1600" dirty="0"/>
          </a:p>
          <a:p>
            <a:pPr marL="0" indent="0">
              <a:buNone/>
            </a:pPr>
            <a:endParaRPr lang="en-IN" sz="1400" dirty="0"/>
          </a:p>
          <a:p>
            <a:pPr>
              <a:buFont typeface="Wingdings" panose="05000000000000000000" pitchFamily="2" charset="2"/>
              <a:buChar char="Ø"/>
            </a:pPr>
            <a:endParaRPr lang="en-IN" sz="2000" dirty="0"/>
          </a:p>
        </p:txBody>
      </p:sp>
    </p:spTree>
    <p:extLst>
      <p:ext uri="{BB962C8B-B14F-4D97-AF65-F5344CB8AC3E}">
        <p14:creationId xmlns:p14="http://schemas.microsoft.com/office/powerpoint/2010/main" val="2385723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388</Words>
  <Application>Microsoft Office PowerPoint</Application>
  <PresentationFormat>Widescreen</PresentationFormat>
  <Paragraphs>31</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Wingdings</vt:lpstr>
      <vt:lpstr>Office Theme</vt:lpstr>
      <vt:lpstr>Retail Business Performance &amp; Profitability Analysis</vt:lpstr>
      <vt:lpstr>Introduction: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jenevee</dc:creator>
  <cp:lastModifiedBy>maria jenevee</cp:lastModifiedBy>
  <cp:revision>1</cp:revision>
  <dcterms:created xsi:type="dcterms:W3CDTF">2025-04-30T10:57:12Z</dcterms:created>
  <dcterms:modified xsi:type="dcterms:W3CDTF">2025-04-30T11:21:34Z</dcterms:modified>
</cp:coreProperties>
</file>